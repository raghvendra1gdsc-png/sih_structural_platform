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 xmlns:a="http://schemas.openxmlformats.org/drawingml/2006/main" xmlns:p="http://schemas.openxmlformats.org/presentationml/2006/main">
        <p:nvSpPr>
          <p:cNvPr id="10" name="TextBox 9"/>
          <p:cNvSpPr txBox="1"/>
          <p:nvPr/>
        </p:nvSpPr>
        <p:spPr>
          <a:xfrm>
            <a:off x="331286" y="2076450"/>
            <a:ext cx="110000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Problem Statement ID – </a:t>
            </a:r>
            <a:r>
              <a:rPr lang="en-US" sz="2400">
                <a:latin typeface="Arial"/>
              </a:rPr>
              <a:t>[fill in — I'll provide]</a:t>
            </a:r>
          </a:p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Problem Statement Title – </a:t>
            </a:r>
            <a:r>
              <a:rPr lang="en-US" sz="2400">
                <a:latin typeface="Arial"/>
              </a:rPr>
              <a:t>Real-time weather data collection, misinformation triage, and analysis platform for disaster response</a:t>
            </a:r>
          </a:p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Theme – </a:t>
            </a:r>
            <a:r>
              <a:rPr lang="en-US" sz="2400">
                <a:latin typeface="Arial"/>
              </a:rPr>
              <a:t>Disaster Management</a:t>
            </a:r>
          </a:p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PS Category – </a:t>
            </a:r>
            <a:r>
              <a:rPr lang="en-US" sz="2400">
                <a:latin typeface="Arial"/>
              </a:rPr>
              <a:t>Software</a:t>
            </a:r>
          </a:p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Team ID – </a:t>
            </a:r>
            <a:r>
              <a:rPr lang="en-US" sz="2400">
                <a:latin typeface="Arial"/>
              </a:rPr>
              <a:t>[fill in]</a:t>
            </a:r>
          </a:p>
          <a:p>
            <a:pPr marL="285750" indent="-285750" algn="left">
              <a:lnSpc>
                <a:spcPct val="160000"/>
              </a:lnSpc>
              <a:buFont typeface="Arial"/>
              <a:buChar char="•"/>
            </a:pPr>
            <a:r>
              <a:rPr lang="en-US" sz="2400" b="1">
                <a:latin typeface="Arial"/>
              </a:rPr>
              <a:t>Team Name (Registered on portal) – </a:t>
            </a:r>
            <a:r>
              <a:rPr lang="en-US" sz="2400">
                <a:latin typeface="Arial"/>
              </a:rPr>
              <a:t>[fill in]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National Weather Big Data Analytics Platform + WeatherGPT</a:t>
            </a:r>
          </a:p>
        </p:txBody>
      </p:sp>
      <p:sp xmlns:a="http://schemas.openxmlformats.org/drawingml/2006/main" xmlns:p="http://schemas.openxmlformats.org/presentationml/2006/main">
        <p:nvSpPr>
          <p:cNvPr id="15362" name="TextBox 8"/>
          <p:cNvSpPr txBox="1"/>
          <p:nvPr/>
        </p:nvSpPr>
        <p:spPr bwMode="auto">
          <a:xfrm>
            <a:off x="609600" y="1650000"/>
            <a:ext cx="109728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None/>
            </a:pPr>
            <a:r>
              <a:rPr lang="en-US" sz="22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Proposed Solution &amp; System Capabilities (Working Prototype):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Multi-Source Ingestion: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Ingests 4 weather APIs (Open-Meteo, OpenWeather, Tomorrow.io, WeatherAPI), citizen reports, and news/social feeds (GDELT, Reddit) into a single pipeline.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AI Classification &amp; Triage: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NLP engine classifies reports into 13 hazard categories with calibrated confidence scores [0.45–0.98].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Multimodal Deduplication: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Collapses duplicates using Haversine distance (≤3.5km) + temporal delta (≤90m) + Jaccard token overlap without discarding velocity metrics.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Explainable Trust Scoring: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Evaluates credibility [0–100] across 6 transparent physical signals (radar consistency, spatial bounds, temporal freshness, cross-corroboration, media).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PostGIS Incident Clustering: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Groups reports into spatial hazard incidents (≤12km, ≤4h), computes a 0–100 Platform Impact Score, and escalates high-velocity hotspots to Early Warning feeds.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Grounded WeatherGPT: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Provides emergency teams a grounded, citation-backed conversational interface — zero hallucinated figures, strictly factual live telemetry.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Core Innovation: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Multi-provider consensus scoring + transparent 6-signal trust audit (not a black-box filter) + human-in-the-loop verification console with permanent audit trails.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Team: [fill in]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&amp; ARCHITECTURE</a:t>
            </a:r>
          </a:p>
        </p:txBody>
      </p:sp>
      <p:sp xmlns:a="http://schemas.openxmlformats.org/drawingml/2006/main" xmlns:p="http://schemas.openxmlformats.org/presentationml/2006/main">
        <p:nvSpPr>
          <p:cNvPr id="17410" name="TextBox 8"/>
          <p:cNvSpPr txBox="1"/>
          <p:nvPr/>
        </p:nvSpPr>
        <p:spPr bwMode="auto">
          <a:xfrm>
            <a:off x="609600" y="1400000"/>
            <a:ext cx="109728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None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Technologies &amp; Tools Employed: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Backend &amp; Queue: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FastAPI (Python async ASGI), Celery worker pool + Redis 7 for asynchronous background ingestion &amp; reclustering.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Database &amp; GIS: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PostgreSQL 15 + PostGIS 3.4 for geodesic spatial indexing (ST_DWithin, SRID 4326), GeoAlchemy2, ACID audit history.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Frontend UX: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Next.js 14 App Router, React 18, TypeScript, Tailwind CSS (dark command palette), Leaflet GIS, Recharts telemetry.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AI / ML Pipeline: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Calibrated 13-category lexical NLP classifier (&lt;1.5ms latency), Haversine + Jaccard deduplication, OpenCLIP zero-shot support.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WeatherGPT Reasoning: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Google Gemini 1.5 Flash primary → OpenAI GPT-4o-mini secondary → Rule-based deterministic fallback with citation evidence panels.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Deployment: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Docker Compose single-command orchestration (`docker compose up --build`), pre-cached offline demo resilience.</a:t>
            </a:r>
          </a:p>
          <a:p>
            <a:pPr marL="0" algn="l">
              <a:buNone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Methodology &amp; Processing Flow (10-Stage Pipeline):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Team: [fill in]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xmlns:a="http://schemas.openxmlformats.org/drawingml/2006/main" xmlns:p="http://schemas.openxmlformats.org/presentationml/2006/main">
        <p:nvSpPr>
          <p:cNvPr id="20000" name="Node_R1_1"/>
          <p:cNvSpPr/>
          <p:nvPr/>
        </p:nvSpPr>
        <p:spPr>
          <a:xfrm>
            <a:off x="609600" y="40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01. Weather Feeds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4 APIs + Citizens</a:t>
            </a:r>
          </a:p>
        </p:txBody>
      </p:sp>
      <p:sp xmlns:a="http://schemas.openxmlformats.org/drawingml/2006/main" xmlns:p="http://schemas.openxmlformats.org/presentationml/2006/main">
        <p:nvSpPr>
          <p:cNvPr id="20001" name="Arrow_R1_1"/>
          <p:cNvSpPr/>
          <p:nvPr/>
        </p:nvSpPr>
        <p:spPr>
          <a:xfrm>
            <a:off x="2554600" y="43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02" name="Node_R1_2"/>
          <p:cNvSpPr/>
          <p:nvPr/>
        </p:nvSpPr>
        <p:spPr>
          <a:xfrm>
            <a:off x="2879600" y="40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02. Normalization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UTC, GPS, Schema</a:t>
            </a:r>
          </a:p>
        </p:txBody>
      </p:sp>
      <p:sp xmlns:a="http://schemas.openxmlformats.org/drawingml/2006/main" xmlns:p="http://schemas.openxmlformats.org/presentationml/2006/main">
        <p:nvSpPr>
          <p:cNvPr id="20003" name="Arrow_R1_2"/>
          <p:cNvSpPr/>
          <p:nvPr/>
        </p:nvSpPr>
        <p:spPr>
          <a:xfrm>
            <a:off x="4824600" y="43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04" name="Node_R1_3"/>
          <p:cNvSpPr/>
          <p:nvPr/>
        </p:nvSpPr>
        <p:spPr>
          <a:xfrm>
            <a:off x="5149600" y="40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03. AI Classifier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13 Hazard Classes</a:t>
            </a:r>
          </a:p>
        </p:txBody>
      </p:sp>
      <p:sp xmlns:a="http://schemas.openxmlformats.org/drawingml/2006/main" xmlns:p="http://schemas.openxmlformats.org/presentationml/2006/main">
        <p:nvSpPr>
          <p:cNvPr id="20005" name="Arrow_R1_3"/>
          <p:cNvSpPr/>
          <p:nvPr/>
        </p:nvSpPr>
        <p:spPr>
          <a:xfrm>
            <a:off x="7094600" y="43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06" name="Node_R1_4"/>
          <p:cNvSpPr/>
          <p:nvPr/>
        </p:nvSpPr>
        <p:spPr>
          <a:xfrm>
            <a:off x="7419600" y="40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04. Deduplication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Haversine ≤ 3.5km</a:t>
            </a:r>
          </a:p>
        </p:txBody>
      </p:sp>
      <p:sp xmlns:a="http://schemas.openxmlformats.org/drawingml/2006/main" xmlns:p="http://schemas.openxmlformats.org/presentationml/2006/main">
        <p:nvSpPr>
          <p:cNvPr id="20007" name="Arrow_R1_4"/>
          <p:cNvSpPr/>
          <p:nvPr/>
        </p:nvSpPr>
        <p:spPr>
          <a:xfrm>
            <a:off x="9364600" y="43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08" name="Node_R1_5"/>
          <p:cNvSpPr/>
          <p:nvPr/>
        </p:nvSpPr>
        <p:spPr>
          <a:xfrm>
            <a:off x="9689600" y="40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05. Trust Engine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6-Signal Scoring</a:t>
            </a:r>
          </a:p>
        </p:txBody>
      </p:sp>
      <p:sp xmlns:a="http://schemas.openxmlformats.org/drawingml/2006/main" xmlns:p="http://schemas.openxmlformats.org/presentationml/2006/main">
        <p:nvSpPr>
          <p:cNvPr id="20009" name="Arrow_Down"/>
          <p:cNvSpPr/>
          <p:nvPr/>
        </p:nvSpPr>
        <p:spPr>
          <a:xfrm>
            <a:off x="10509600" y="4840000"/>
            <a:ext cx="240000" cy="26000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10" name="Node_R2_6"/>
          <p:cNvSpPr/>
          <p:nvPr/>
        </p:nvSpPr>
        <p:spPr>
          <a:xfrm>
            <a:off x="609600" y="51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06. PostGIS Store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Spatiotemporal Clust</a:t>
            </a:r>
          </a:p>
        </p:txBody>
      </p:sp>
      <p:sp xmlns:a="http://schemas.openxmlformats.org/drawingml/2006/main" xmlns:p="http://schemas.openxmlformats.org/presentationml/2006/main">
        <p:nvSpPr>
          <p:cNvPr id="20011" name="Arrow_R2_6"/>
          <p:cNvSpPr/>
          <p:nvPr/>
        </p:nvSpPr>
        <p:spPr>
          <a:xfrm>
            <a:off x="2554600" y="54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12" name="Node_R2_7"/>
          <p:cNvSpPr/>
          <p:nvPr/>
        </p:nvSpPr>
        <p:spPr>
          <a:xfrm>
            <a:off x="2879600" y="51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07. Impact Score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0–100 Severity Index</a:t>
            </a:r>
          </a:p>
        </p:txBody>
      </p:sp>
      <p:sp xmlns:a="http://schemas.openxmlformats.org/drawingml/2006/main" xmlns:p="http://schemas.openxmlformats.org/presentationml/2006/main">
        <p:nvSpPr>
          <p:cNvPr id="20013" name="Arrow_R2_7"/>
          <p:cNvSpPr/>
          <p:nvPr/>
        </p:nvSpPr>
        <p:spPr>
          <a:xfrm>
            <a:off x="4824600" y="54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14" name="Node_R2_8"/>
          <p:cNvSpPr/>
          <p:nvPr/>
        </p:nvSpPr>
        <p:spPr>
          <a:xfrm>
            <a:off x="5149600" y="51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6FB"/>
          </a:solidFill>
          <a:ln w="19050">
            <a:solidFill>
              <a:srgbClr val="0070C0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08. Early Warning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Hotspot Escalation</a:t>
            </a:r>
          </a:p>
        </p:txBody>
      </p:sp>
      <p:sp xmlns:a="http://schemas.openxmlformats.org/drawingml/2006/main" xmlns:p="http://schemas.openxmlformats.org/presentationml/2006/main">
        <p:nvSpPr>
          <p:cNvPr id="20015" name="Arrow_R2_8"/>
          <p:cNvSpPr/>
          <p:nvPr/>
        </p:nvSpPr>
        <p:spPr>
          <a:xfrm>
            <a:off x="7094600" y="54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16" name="Node_R2_9"/>
          <p:cNvSpPr/>
          <p:nvPr/>
        </p:nvSpPr>
        <p:spPr>
          <a:xfrm>
            <a:off x="7419600" y="51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09. Admin Console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Human Verification</a:t>
            </a:r>
          </a:p>
        </p:txBody>
      </p:sp>
      <p:sp xmlns:a="http://schemas.openxmlformats.org/drawingml/2006/main" xmlns:p="http://schemas.openxmlformats.org/presentationml/2006/main">
        <p:nvSpPr>
          <p:cNvPr id="20017" name="Arrow_R2_9"/>
          <p:cNvSpPr/>
          <p:nvPr/>
        </p:nvSpPr>
        <p:spPr>
          <a:xfrm>
            <a:off x="9364600" y="5405000"/>
            <a:ext cx="260000" cy="240000"/>
          </a:xfrm>
          <a:prstGeom prst="rightArrow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/>
          <a:p>
            <a:pPr/>
          </a:p>
        </p:txBody>
      </p:sp>
      <p:sp xmlns:a="http://schemas.openxmlformats.org/drawingml/2006/main" xmlns:p="http://schemas.openxmlformats.org/presentationml/2006/main">
        <p:nvSpPr>
          <p:cNvPr id="20018" name="Node_R2_10"/>
          <p:cNvSpPr/>
          <p:nvPr/>
        </p:nvSpPr>
        <p:spPr>
          <a:xfrm>
            <a:off x="9689600" y="5150000"/>
            <a:ext cx="1880000" cy="7500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txBody>
          <a:bodyPr anchor="ctr" lIns="36000" rIns="36000" tIns="36000" bIns="36000" wrap="square"/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itchFamily="34" charset="0"/>
              </a:rPr>
              <a:t>10. WeatherGPT</a:t>
            </a:r>
          </a:p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</a:rPr>
              <a:t>Grounded Decision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 ANALYSIS</a:t>
            </a:r>
          </a:p>
        </p:txBody>
      </p:sp>
      <p:sp xmlns:a="http://schemas.openxmlformats.org/drawingml/2006/main" xmlns:p="http://schemas.openxmlformats.org/presentationml/2006/main">
        <p:nvSpPr>
          <p:cNvPr id="17410" name="TextBox 8"/>
          <p:cNvSpPr txBox="1"/>
          <p:nvPr/>
        </p:nvSpPr>
        <p:spPr bwMode="auto">
          <a:xfrm>
            <a:off x="609600" y="1650000"/>
            <a:ext cx="109728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None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Feasibility &amp; Operational Readiness: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Operational Prototype Built &amp; Validated: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Fully implemented codebase with 62/62 automated pytest suites passing across providers, NLP classifier, dedup, clustering, and WeatherGPT.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Low-Latency Ingestion &amp; UI: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Sub-15ms end-to-end report ingestion pipeline; Next.js 14 production build compiled with 15 static routes and 0 errors.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100% Offline Demonstration Capability: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Pre-cached meteorological dataset and deterministic 500-report generator (demo/seed.py) ensure zero failure risk from external connectivity during hackathon judging.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Economical &amp; Horizontally Scalable: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Operates on free-tier global models and open-source PostGIS/Redis stack; stateless ASGI architecture enables linear horizontal scale.</a:t>
            </a:r>
          </a:p>
          <a:p>
            <a:pPr marL="0" algn="l">
              <a:buNone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Key Challenges &amp; Architectural Mitigations: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Challenge 1 (No Public IMD Radar API):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Mitigated via 4-provider global model consensus (Open-Meteo, OWM, Tomorrow, WeatherAPI) cross-validated with local citizen reports and official IMD linkouts.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Challenge 2 (Spam &amp; Rumor Vulnerability):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Mitigated via automated 6-factor credibility scoring, rate-limiting, and mandatory human review before unverified posts become ground truth.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Challenge 3 (Regional Language Nuances): </a:t>
            </a:r>
            <a:r>
              <a:rPr lang="en-US" sz="17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Mitigated with hybrid bilingual lexicon (English/Hindi idioms like 'aandhi', 'loo', 'cloudburst') and human review queue for low-confidence text.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Team: [fill in]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 TO STAKEHOLDERS</a:t>
            </a:r>
          </a:p>
        </p:txBody>
      </p:sp>
      <p:sp xmlns:a="http://schemas.openxmlformats.org/drawingml/2006/main" xmlns:p="http://schemas.openxmlformats.org/presentationml/2006/main">
        <p:nvSpPr>
          <p:cNvPr id="17410" name="TextBox 8"/>
          <p:cNvSpPr txBox="1"/>
          <p:nvPr/>
        </p:nvSpPr>
        <p:spPr bwMode="auto">
          <a:xfrm>
            <a:off x="609600" y="1700000"/>
            <a:ext cx="109728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None/>
            </a:pPr>
            <a:r>
              <a:rPr lang="en-US" sz="22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Value Proposition &amp; Societal Returns: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Target Beneficiaries &amp; Users: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National &amp; State Disaster Management Authorities (NDMA/SDMA), district collectors, Emergency Operations Centers (EOCs), municipal flood control cells, and NDRF/SDRF field response units.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Life-Saving Social Impact: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Accelerates triage during flash floods, cloudbursts, and cyclones from hours to seconds; enables timely targeted citizen evacuations and localized shelter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Economic &amp; Resource Efficiency: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Dramatically reduces wasteful dispatch of emergency personnel and pumps triggered by viral social media rumors, stale photos, or duplicate panic reports.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Unified Operational Picture: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Bridges the dangerous gap between macro satellite forecasts and chaotic ground eyewitness posts into a single verified, geospatial situational dashboard.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Accountability &amp; Governance: </a:t>
            </a:r>
            <a:r>
              <a:rPr lang="en-US" sz="18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Human-in-the-loop verification station creates an immutable audit trail for every emergency declaration, ensuring institutional transparency and post-event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Team: [fill in]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RESEARCH, REFERENCES AND STANDARDS</a:t>
            </a:r>
          </a:p>
        </p:txBody>
      </p:sp>
      <p:sp xmlns:a="http://schemas.openxmlformats.org/drawingml/2006/main" xmlns:p="http://schemas.openxmlformats.org/presentationml/2006/main">
        <p:nvSpPr>
          <p:cNvPr id="17410" name="TextBox 8"/>
          <p:cNvSpPr txBox="1"/>
          <p:nvPr/>
        </p:nvSpPr>
        <p:spPr bwMode="auto">
          <a:xfrm>
            <a:off x="609600" y="1650000"/>
            <a:ext cx="109728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>
              <a:buNone/>
            </a:pPr>
            <a:r>
              <a:rPr lang="en-US" sz="19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Meteorological APIs &amp; Spatial Platforms: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Open-Meteo Weather API: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High-resolution global weather models (ECMWF, GFS), hourly forecasts, free tier — https://open-meteo.com/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OpenWeatherMap API: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Current atmospheric conditions, wind gusts, atmospheric pressure API v2.5 — https://openweathermap.org/api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Tomorrow.io Intelligence API: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1-hour hyper-local precipitation and convective storm tracking API v4 — https://www.tomorrow.io/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WeatherAPI.com: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Real-time observational feed and condition code cross-validation — https://www.weatherapi.com/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PostGIS Spatial Database: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Geodesic geometry indexing (ST_DWithin, WGS-84 SRID 4326) — https://postgis.net/</a:t>
            </a:r>
          </a:p>
          <a:p>
            <a:pPr marL="0" algn="l">
              <a:buNone/>
            </a:pPr>
            <a:r>
              <a:rPr lang="en-US" sz="19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National Disaster Guidelines &amp; Global Standards: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GDELT 2.0 Global News Project: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Real-time news intelligence monitoring for disaster keywords — https://www.gdeltproject.org/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NDMA Incident Response System: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National Disaster Management Guidelines on Incident Command &amp; Response, Govt. of India (2010)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WMO Multi-Hazard Guidelines: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World Meteorological Organization Guidelines on Multi-Hazard Early Warning Systems (MHEWS-II)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F243E"/>
                </a:solidFill>
                <a:latin typeface="Arial" pitchFamily="34" charset="0"/>
                <a:cs typeface="Arial" pitchFamily="34" charset="0"/>
              </a:rPr>
              <a:t>USGS Earthquake &amp; Hazard Feed: 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Real-time GeoJSON seismic event protocols &amp; spatial schemas — https://earthquake.usgs.gov/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Team: [fill in]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